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Ministry of Consumer Affairs, Food &amp; Public Distribution | Bureau of Indian Standards (BIS)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6015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Problem Statement ID: SIH26108</a:t>
            </a:r>
          </a:p>
          <a:p>
            <a:pPr>
              <a:spcAft>
                <a:spcPts val="1600"/>
              </a:spcAft>
              <a:defRPr sz="2400" b="1">
                <a:solidFill>
                  <a:srgbClr val="0F172A"/>
                </a:solidFill>
              </a:defRPr>
            </a:pPr>
            <a:r>
              <a:t>AI-Powered Recommendation Engine for Identifying Applicable Indian Standards for Procurement Specifications</a:t>
            </a:r>
          </a:p>
          <a:p>
            <a:pPr>
              <a:spcAft>
                <a:spcPts val="2400"/>
              </a:spcAft>
              <a:defRPr sz="1600" b="1">
                <a:solidFill>
                  <a:srgbClr val="059669"/>
                </a:solidFill>
              </a:defRPr>
            </a:pPr>
            <a:r>
              <a:t>Project: BIS AI (Bureau of Indian Standards Compliance Intelligence Platform)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931920"/>
            <a:ext cx="9262872" cy="1645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64748B"/>
                </a:solidFill>
              </a:defRPr>
            </a:pPr>
            <a:r>
              <a:t>TEAM &amp; SUBMISSION DETAILS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Team Name: ZenicX                    • Theme: Smart Automation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Team ID: SIH-10                         • Category: SOFTWARE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Live Deployment: https://bis-ai.netlify.app/    • Performance: 100% Hit@3 | 0.95 MRR@5 | 0.42s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PROPOSED SOLUTION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</a:defRPr>
            </a:pPr>
            <a:r>
              <a:t>Team: ZenicX (SIH-10)  |  PS: SIH26108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Core Architecture  ·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t>THE PROBLEM WE SOLVE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Massive Standards Catalog: </a:t>
            </a:r>
            <a:r>
              <a:rPr b="0">
                <a:solidFill>
                  <a:srgbClr val="0F172A"/>
                </a:solidFill>
              </a:rPr>
              <a:t>25,000+ BIS standards across 15+ specialized technical divisions.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Keyword Portals Fail: </a:t>
            </a:r>
            <a:r>
              <a:rPr b="0">
                <a:solidFill>
                  <a:srgbClr val="0F172A"/>
                </a:solidFill>
              </a:rPr>
              <a:t>The existing 'Know Your Standard' portal only does strict string matching, failing on real procurement descriptions (e.g., 'solar inverter with MPPT &amp; anti-islanding').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Compliance Bottleneck: </a:t>
            </a:r>
            <a:r>
              <a:rPr b="0">
                <a:solidFill>
                  <a:srgbClr val="0F172A"/>
                </a:solidFill>
              </a:rPr>
              <a:t>MSMEs &amp; procurement officers spend weeks sifting through scattered PDFs and Gazette notifications.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Non-Compliance Risk: </a:t>
            </a:r>
            <a:r>
              <a:rPr b="0">
                <a:solidFill>
                  <a:srgbClr val="0F172A"/>
                </a:solidFill>
              </a:rPr>
              <a:t>Missing a mandatory Quality Control Order (QCO) leads to shipment rejection and legal liabilities.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BIS AI: WHAT WE BUILT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Intelligent Context Engine: </a:t>
            </a:r>
            <a:r>
              <a:rPr b="0">
                <a:solidFill>
                  <a:srgbClr val="0F172A"/>
                </a:solidFill>
              </a:rPr>
              <a:t>Translates unstructured procurement specs into exact IS codes in ~0.42 seconds.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1,002 Standards Indexed: </a:t>
            </a:r>
            <a:r>
              <a:rPr b="0">
                <a:solidFill>
                  <a:srgbClr val="0F172A"/>
                </a:solidFill>
              </a:rPr>
              <a:t>Consolidated database merging SP 21 Civil Handbook (559 standards), core electrical/mechanical standards, and extended division catalogs.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Multimodal Ingestion: </a:t>
            </a:r>
            <a:r>
              <a:rPr b="0">
                <a:solidFill>
                  <a:srgbClr val="0F172A"/>
                </a:solidFill>
              </a:rPr>
              <a:t>Accepts natural plain text, voice dictation (Whisper STT), and tender documents (PDF/DOCX/TXT).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Actionable Output: </a:t>
            </a:r>
            <a:r>
              <a:rPr b="0">
                <a:solidFill>
                  <a:srgbClr val="0F172A"/>
                </a:solidFill>
              </a:rPr>
              <a:t>Confidence scoring (High/Moderate/Low), direct BIS portal URLs, and mandatory QCO badges.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Interactive Exploration: </a:t>
            </a:r>
            <a:r>
              <a:rPr b="0">
                <a:solidFill>
                  <a:srgbClr val="0F172A"/>
                </a:solidFill>
              </a:rPr>
              <a:t>Side-by-side standard comparison and interactive Clause Q&amp;A assistant.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059669"/>
                </a:solidFill>
              </a:defRPr>
            </a:pPr>
            <a:r>
              <a:t>INNOVATION &amp; UNIQUENESS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RAG Over Fine-Tuning: </a:t>
            </a:r>
            <a:r>
              <a:rPr b="0">
                <a:solidFill>
                  <a:srgbClr val="0F172A"/>
                </a:solidFill>
              </a:rPr>
              <a:t>Zero risk of hallucinating standards. Knowledge lives in retrievable indices, updated dynamically without model retraining.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Dual Hybrid Fusion (RRF): </a:t>
            </a:r>
            <a:r>
              <a:rPr b="0">
                <a:solidFill>
                  <a:srgbClr val="0F172A"/>
                </a:solidFill>
              </a:rPr>
              <a:t>Fuses BM25 keyword matching with dense 384-d semantic vectors (Reciprocal Rank Fusion).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Cross-Encoder Neural Reranking: </a:t>
            </a:r>
            <a:r>
              <a:rPr b="0">
                <a:solidFill>
                  <a:srgbClr val="0F172A"/>
                </a:solidFill>
              </a:rPr>
              <a:t>Applies ms-marco cross-attention and exact n-gram phrase scoring to eliminate false positives.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Domain Applicability Guard: </a:t>
            </a:r>
            <a:r>
              <a:rPr b="0">
                <a:solidFill>
                  <a:srgbClr val="0F172A"/>
                </a:solidFill>
              </a:rPr>
              <a:t>Enforces rule-based domain taxonomies so civil queries never contaminate electrical recommendations.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Automated Audit Dossier: </a:t>
            </a:r>
            <a:r>
              <a:rPr b="0">
                <a:solidFill>
                  <a:srgbClr val="0F172A"/>
                </a:solidFill>
              </a:rPr>
              <a:t>Generates 4-phase formal compliance PDF dossiers with ReportLab.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TECHNICAL APPROACH &amp; 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</a:defRPr>
            </a:pPr>
            <a:r>
              <a:t>Team: ZenicX (SIH-10)  |  PS: SIH26108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Methodology &amp; Tech Stack  ·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6-STAGE HYBRID RETRIEVAL &amp; SYNTHESIS PIPELINE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1. Input &amp; Query Magnification: </a:t>
            </a:r>
            <a:r>
              <a:rPr b="0">
                <a:solidFill>
                  <a:srgbClr val="0F172A"/>
                </a:solidFill>
              </a:rPr>
              <a:t>Text, voice audio (Groq Whisper), or tender PDF/DOCX (PyPDF). Gemini / local regex classifier magnifies query with domain synonyms &amp; candidate IS numbers.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2. Dual-Engine Candidate Retrieval: </a:t>
            </a:r>
            <a:r>
              <a:rPr b="0">
                <a:solidFill>
                  <a:srgbClr val="0F172A"/>
                </a:solidFill>
              </a:rPr>
              <a:t>Sparse BM25Okapi captures rare technical tokens (e.g. M30, OPC33) while Dense Vector Search (BGE-small-en-v1.5 ONNX) captures deep semantic intent.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3. Reciprocal Rank Fusion (RRF): </a:t>
            </a:r>
            <a:r>
              <a:rPr b="0">
                <a:solidFill>
                  <a:srgbClr val="0F172A"/>
                </a:solidFill>
              </a:rPr>
              <a:t>Parameter-free rank aggregation formula: Score = Σ 1.0 / (60 + rank + 1) combining Top-60 lexical and semantic candidates.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4. Domain Applicability Filtering: </a:t>
            </a:r>
            <a:r>
              <a:rPr b="0">
                <a:solidFill>
                  <a:srgbClr val="0F172A"/>
                </a:solidFill>
              </a:rPr>
              <a:t>Taxonomy-guided barrier eliminates cross-domain false matches (e.g., prevents cement matches on toy queries).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5. Neural Cross-Encoder Reranker: </a:t>
            </a:r>
            <a:r>
              <a:rPr b="0">
                <a:solidFill>
                  <a:srgbClr val="0F172A"/>
                </a:solidFill>
              </a:rPr>
              <a:t>Xenova/ms-marco-MiniLM-L-6-v2 deep cross-attention + exact N-gram phrase boosting + grade conflict penalty on top 15 candidates.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6. Confidence Calibration &amp; Synthesis: </a:t>
            </a:r>
            <a:r>
              <a:rPr b="0">
                <a:solidFill>
                  <a:srgbClr val="0F172A"/>
                </a:solidFill>
              </a:rPr>
              <a:t>Confidence tiering (High ≥80%, Mod ≥60%) + grounded executive summary + ReportLab PDF audit dossier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3278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59669"/>
                </a:solidFill>
              </a:defRPr>
            </a:pPr>
            <a:r>
              <a:t>ENTERPRISE TECH STACK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</a:defRPr>
            </a:pPr>
            <a:r>
              <a:t>• Frontend Layer: </a:t>
            </a:r>
            <a:r>
              <a:rPr b="0">
                <a:solidFill>
                  <a:srgbClr val="64748B"/>
                </a:solidFill>
              </a:rPr>
              <a:t>Next.js 14 (App Router), TypeScript, Tailwind CSS, Framer Motion, Three.js Particle Physics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</a:defRPr>
            </a:pPr>
            <a:r>
              <a:t>• Backend Framework: </a:t>
            </a:r>
            <a:r>
              <a:rPr b="0">
                <a:solidFill>
                  <a:srgbClr val="64748B"/>
                </a:solidFill>
              </a:rPr>
              <a:t>FastAPI (Python 3.10+), Uvicorn, Pydantic v2 validation (10 REST endpoints)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</a:defRPr>
            </a:pPr>
            <a:r>
              <a:t>• Dense Embeddings: </a:t>
            </a:r>
            <a:r>
              <a:rPr b="0">
                <a:solidFill>
                  <a:srgbClr val="64748B"/>
                </a:solidFill>
              </a:rPr>
              <a:t>BAAI/bge-small-en-v1.5 (384-dim, ONNX Runtime optimized, &lt;2ms inference)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</a:defRPr>
            </a:pPr>
            <a:r>
              <a:t>• Lexical Retrieval: </a:t>
            </a:r>
            <a:r>
              <a:rPr b="0">
                <a:solidFill>
                  <a:srgbClr val="64748B"/>
                </a:solidFill>
              </a:rPr>
              <a:t>rank-bm25 (BM25Okapi) with customized BIS stopword filters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</a:defRPr>
            </a:pPr>
            <a:r>
              <a:t>• Cross-Encoder: </a:t>
            </a:r>
            <a:r>
              <a:rPr b="0">
                <a:solidFill>
                  <a:srgbClr val="64748B"/>
                </a:solidFill>
              </a:rPr>
              <a:t>ms-marco-MiniLM-L-6-v2 neural reranking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</a:defRPr>
            </a:pPr>
            <a:r>
              <a:t>• LLM Synthesis: </a:t>
            </a:r>
            <a:r>
              <a:rPr b="0">
                <a:solidFill>
                  <a:srgbClr val="64748B"/>
                </a:solidFill>
              </a:rPr>
              <a:t>Google Gemini 3.5 Flash-Lite (API) with deterministic offline fallback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</a:defRPr>
            </a:pPr>
            <a:r>
              <a:t>• Document / Speech: </a:t>
            </a:r>
            <a:r>
              <a:rPr b="0">
                <a:solidFill>
                  <a:srgbClr val="64748B"/>
                </a:solidFill>
              </a:rPr>
              <a:t>ReportLab (2-pass PDF dossier), PyPDF (text extraction), Groq Whisper (STT)</a:t>
            </a:r>
          </a:p>
          <a:p>
            <a:pPr>
              <a:spcAft>
                <a:spcPts val="500"/>
              </a:spcAft>
              <a:defRPr b="1" sz="1000">
                <a:solidFill>
                  <a:srgbClr val="0F172A"/>
                </a:solidFill>
              </a:defRPr>
            </a:pPr>
            <a:r>
              <a:t>• Hosting / Edge: </a:t>
            </a:r>
            <a:r>
              <a:rPr b="0">
                <a:solidFill>
                  <a:srgbClr val="64748B"/>
                </a:solidFill>
              </a:rPr>
              <a:t>Netlify Global Edge (Frontend live) + Containerized FastAPI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FEASIBILITY &amp; OPERATIONAL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</a:defRPr>
            </a:pPr>
            <a:r>
              <a:t>Team: ZenicX (SIH-10)  |  PS: SIH26108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Implementation Readiness  ·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CORE FEASIBILITY PILLARS</a:t>
            </a:r>
          </a:p>
          <a:p>
            <a:pPr>
              <a:spcAft>
                <a:spcPts val="900"/>
              </a:spcAft>
              <a:defRPr b="1" sz="1100">
                <a:solidFill>
                  <a:srgbClr val="0F172A"/>
                </a:solidFill>
              </a:defRPr>
            </a:pPr>
            <a:r>
              <a:t>• Zero GPU Requirement: </a:t>
            </a:r>
            <a:r>
              <a:rPr b="0">
                <a:solidFill>
                  <a:srgbClr val="0F172A"/>
                </a:solidFill>
              </a:rPr>
              <a:t>Unlike models requiring 16-24GB VRAM, our ONNX runtime executes embedding lookups and cross-encoder scoring entirely on standard multi-core CPUs in ~420ms.</a:t>
            </a:r>
          </a:p>
          <a:p>
            <a:pPr>
              <a:spcAft>
                <a:spcPts val="900"/>
              </a:spcAft>
              <a:defRPr b="1" sz="1100">
                <a:solidFill>
                  <a:srgbClr val="0F172A"/>
                </a:solidFill>
              </a:defRPr>
            </a:pPr>
            <a:r>
              <a:t>• Ultra-Lightweight Storage: </a:t>
            </a:r>
            <a:r>
              <a:rPr b="0">
                <a:solidFill>
                  <a:srgbClr val="0F172A"/>
                </a:solidFill>
              </a:rPr>
              <a:t>1,002 precomputed 384-d embeddings occupy just 1.5 MB in memory (.npy array). Zero heavy external vector database overhead.</a:t>
            </a:r>
          </a:p>
          <a:p>
            <a:pPr>
              <a:spcAft>
                <a:spcPts val="900"/>
              </a:spcAft>
              <a:defRPr b="1" sz="1100">
                <a:solidFill>
                  <a:srgbClr val="0F172A"/>
                </a:solidFill>
              </a:defRPr>
            </a:pPr>
            <a:r>
              <a:t>• 100% Offline / Fallback Capability: </a:t>
            </a:r>
            <a:r>
              <a:rPr b="0">
                <a:solidFill>
                  <a:srgbClr val="0F172A"/>
                </a:solidFill>
              </a:rPr>
              <a:t>If the cloud LLM is unreachable, BIS AI seamlessly falls back to local BM25 + deterministic taxonomy classifier with zero downtime.</a:t>
            </a:r>
          </a:p>
          <a:p>
            <a:pPr>
              <a:spcAft>
                <a:spcPts val="900"/>
              </a:spcAft>
              <a:defRPr b="1" sz="1100">
                <a:solidFill>
                  <a:srgbClr val="0F172A"/>
                </a:solidFill>
              </a:defRPr>
            </a:pPr>
            <a:r>
              <a:t>• Data Availability &amp; Compliance: </a:t>
            </a:r>
            <a:r>
              <a:rPr b="0">
                <a:solidFill>
                  <a:srgbClr val="0F172A"/>
                </a:solidFill>
              </a:rPr>
              <a:t>Built strictly on publicly accessible Bureau of Indian Standards handbooks (SP 21), e-BIS portals, and DPIIT Quality Control Orders.</a:t>
            </a:r>
          </a:p>
          <a:p>
            <a:pPr>
              <a:spcAft>
                <a:spcPts val="900"/>
              </a:spcAft>
              <a:defRPr b="1" sz="1100">
                <a:solidFill>
                  <a:srgbClr val="0F172A"/>
                </a:solidFill>
              </a:defRPr>
            </a:pPr>
            <a:r>
              <a:t>• Extensible Ingestion Pipeline: </a:t>
            </a:r>
            <a:r>
              <a:rPr b="0">
                <a:solidFill>
                  <a:srgbClr val="0F172A"/>
                </a:solidFill>
              </a:rPr>
              <a:t>New standards published in the Gazette of India are indexed into vector arrays within minutes without full retraining.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D97706"/>
                </a:solidFill>
              </a:defRPr>
            </a:pPr>
            <a:r>
              <a:t>ANTICIPATED CHALLENGES &amp; CONCRETE MITIGATIONS</a:t>
            </a:r>
          </a:p>
          <a:p>
            <a:pPr>
              <a:defRPr b="1" sz="1050">
                <a:solidFill>
                  <a:srgbClr val="B45309"/>
                </a:solidFill>
              </a:defRPr>
            </a:pPr>
            <a:r>
              <a:t>• Challenge: Risk of AI Hallucinations</a:t>
            </a:r>
          </a:p>
          <a:p>
            <a:pPr>
              <a:spcAft>
                <a:spcPts val="600"/>
              </a:spcAft>
              <a:defRPr b="0" sz="1000">
                <a:solidFill>
                  <a:srgbClr val="0F172A"/>
                </a:solidFill>
              </a:defRPr>
            </a:pPr>
            <a:r>
              <a:t>   Solution: Hard Whitelist Guard: System validates every emitted standard against the 1,002 verified IS catalog; outputs explicit clause references &amp; direct BIS URLs.</a:t>
            </a:r>
          </a:p>
          <a:p>
            <a:pPr>
              <a:defRPr b="1" sz="1050">
                <a:solidFill>
                  <a:srgbClr val="B45309"/>
                </a:solidFill>
              </a:defRPr>
            </a:pPr>
            <a:r>
              <a:t>• Challenge: Conflicting Grades (e.g. 33 vs 53 Grade)</a:t>
            </a:r>
          </a:p>
          <a:p>
            <a:pPr>
              <a:spcAft>
                <a:spcPts val="600"/>
              </a:spcAft>
              <a:defRPr b="0" sz="1000">
                <a:solidFill>
                  <a:srgbClr val="0F172A"/>
                </a:solidFill>
              </a:defRPr>
            </a:pPr>
            <a:r>
              <a:t>   Solution: Conflict Penalty Logic: Neural reranker penalizes candidate standards where specific grade tokens contradict the query.</a:t>
            </a:r>
          </a:p>
          <a:p>
            <a:pPr>
              <a:defRPr b="1" sz="1050">
                <a:solidFill>
                  <a:srgbClr val="B45309"/>
                </a:solidFill>
              </a:defRPr>
            </a:pPr>
            <a:r>
              <a:t>• Challenge: Cross-Domain Semantic Confusion</a:t>
            </a:r>
          </a:p>
          <a:p>
            <a:pPr>
              <a:spcAft>
                <a:spcPts val="600"/>
              </a:spcAft>
              <a:defRPr b="0" sz="1000">
                <a:solidFill>
                  <a:srgbClr val="0F172A"/>
                </a:solidFill>
              </a:defRPr>
            </a:pPr>
            <a:r>
              <a:t>   Solution: Applicability Guard: Rules-based domain filtering ensures queries about food containers never return civil structural codes.</a:t>
            </a:r>
          </a:p>
          <a:p>
            <a:pPr>
              <a:defRPr b="1" sz="1050">
                <a:solidFill>
                  <a:srgbClr val="B45309"/>
                </a:solidFill>
              </a:defRPr>
            </a:pPr>
            <a:r>
              <a:t>• Challenge: Standards Revision &amp; Withdrawal</a:t>
            </a:r>
          </a:p>
          <a:p>
            <a:pPr>
              <a:spcAft>
                <a:spcPts val="600"/>
              </a:spcAft>
              <a:defRPr b="0" sz="1000">
                <a:solidFill>
                  <a:srgbClr val="0F172A"/>
                </a:solidFill>
              </a:defRPr>
            </a:pPr>
            <a:r>
              <a:t>   Solution: Metadata Version Tagging: Incorporates year of reaffirmation (e.g. IS 269:2015) and flags withdrawn vs active status.</a:t>
            </a:r>
          </a:p>
          <a:p>
            <a:pPr>
              <a:defRPr b="1" sz="1050">
                <a:solidFill>
                  <a:srgbClr val="B45309"/>
                </a:solidFill>
              </a:defRPr>
            </a:pPr>
            <a:r>
              <a:t>• Challenge: Handling Complex Technical PDFs</a:t>
            </a:r>
          </a:p>
          <a:p>
            <a:pPr>
              <a:spcAft>
                <a:spcPts val="600"/>
              </a:spcAft>
              <a:defRPr b="0" sz="1000">
                <a:solidFill>
                  <a:srgbClr val="0F172A"/>
                </a:solidFill>
              </a:defRPr>
            </a:pPr>
            <a:r>
              <a:t>   Solution: Intelligent Document Parsing: Extracts text, tabular specs, and numerical limits from procurement RFP attachments.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FINANCIAL FEASIBILITY &amp; COST OF RUNNING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</a:defRPr>
            </a:pPr>
            <a:r>
              <a:t>Team: ZenicX (SIH-10)  |  PS: SIH26108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Actual Infrastructure Cost &amp; Scalability  ·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ECONOMICS OF BIS AI: BUILT FOR EXTREME COST-EFFICIENCY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By optimizing embeddings into ONNX and running retrieval on standard CPU, BIS AI eliminates dedicated GPU and cloud vector DB costs entirely. Per-query inference costs less than ₹0.02 (2 paise), making nationwide MSME adoption practically free.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67665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INFRASTRUCTURE COST BREAKDOWN (AT 50,000 QUERIES / MONTH)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• Vector Search &amp; Embedding Lookup [₹0.00 / mo]</a:t>
            </a:r>
          </a:p>
          <a:p>
            <a:pPr>
              <a:spcAft>
                <a:spcPts val="400"/>
              </a:spcAft>
              <a:defRPr b="0" sz="900">
                <a:solidFill>
                  <a:srgbClr val="64748B"/>
                </a:solidFill>
              </a:defRPr>
            </a:pPr>
            <a:r>
              <a:t>   Tech: Local ONNX Runtime on CPU (&lt;2ms)  |  Note: Zero Pinecone/Milvus fees; runs in RAM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• Frontend Application &amp; CDN [₹0.00 / mo]</a:t>
            </a:r>
          </a:p>
          <a:p>
            <a:pPr>
              <a:spcAft>
                <a:spcPts val="400"/>
              </a:spcAft>
              <a:defRPr b="0" sz="900">
                <a:solidFill>
                  <a:srgbClr val="64748B"/>
                </a:solidFill>
              </a:defRPr>
            </a:pPr>
            <a:r>
              <a:t>   Tech: Netlify Edge Network (Global CDN)  |  Note: Within standard generous free tier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• Backend API Server [₹650 - ₹900 / mo]</a:t>
            </a:r>
          </a:p>
          <a:p>
            <a:pPr>
              <a:spcAft>
                <a:spcPts val="400"/>
              </a:spcAft>
              <a:defRPr b="0" sz="900">
                <a:solidFill>
                  <a:srgbClr val="64748B"/>
                </a:solidFill>
              </a:defRPr>
            </a:pPr>
            <a:r>
              <a:t>   Tech: 2 vCPU / 4GB RAM Cloud VPS / Docker  |  Note: FastAPI handles 250+ req/sec concurrently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• LLM Synthesis (Gemini Flash-Lite) [₹150 - ₹350 / mo]</a:t>
            </a:r>
          </a:p>
          <a:p>
            <a:pPr>
              <a:spcAft>
                <a:spcPts val="400"/>
              </a:spcAft>
              <a:defRPr b="0" sz="900">
                <a:solidFill>
                  <a:srgbClr val="64748B"/>
                </a:solidFill>
              </a:defRPr>
            </a:pPr>
            <a:r>
              <a:t>   Tech: Pay-per-token API (~200 tokens/query)  |  Note: Or ₹0 using local Ollama (Llama 3.2)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• Audio Transcription (Groq Whisper) [₹50 - ₹100 / mo]</a:t>
            </a:r>
          </a:p>
          <a:p>
            <a:pPr>
              <a:spcAft>
                <a:spcPts val="400"/>
              </a:spcAft>
              <a:defRPr b="0" sz="900">
                <a:solidFill>
                  <a:srgbClr val="64748B"/>
                </a:solidFill>
              </a:defRPr>
            </a:pPr>
            <a:r>
              <a:t>   Tech: Whisper-Large-v3 on Groq  |  Note: Extremely low per-second audio pricing</a:t>
            </a:r>
          </a:p>
          <a:p>
            <a:pPr>
              <a:defRPr b="1" sz="1000">
                <a:solidFill>
                  <a:srgbClr val="2563EB"/>
                </a:solidFill>
              </a:defRPr>
            </a:pPr>
            <a:r>
              <a:t>• Automated PDF Dossier Engine [₹0.00 / mo]</a:t>
            </a:r>
          </a:p>
          <a:p>
            <a:pPr>
              <a:spcAft>
                <a:spcPts val="400"/>
              </a:spcAft>
              <a:defRPr b="0" sz="900">
                <a:solidFill>
                  <a:srgbClr val="64748B"/>
                </a:solidFill>
              </a:defRPr>
            </a:pPr>
            <a:r>
              <a:t>   Tech: ReportLab Serverless Execution  |  Note: Generates reports dynamically in 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377440"/>
            <a:ext cx="3687775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059669"/>
                </a:solidFill>
              </a:defRPr>
            </a:pPr>
            <a:r>
              <a:t>TOTAL COST OF OWNERSHIP (TCO)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Stage 1: Pilot &amp; Hackathon</a:t>
            </a:r>
          </a:p>
          <a:p>
            <a:pPr>
              <a:spcAft>
                <a:spcPts val="800"/>
              </a:spcAft>
              <a:defRPr sz="1000">
                <a:solidFill>
                  <a:srgbClr val="059669"/>
                </a:solidFill>
              </a:defRPr>
            </a:pPr>
            <a:r>
              <a:t>Cost: ₹0.00 / month (100% Free Tiers)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Stage 2: Production MSME Scale</a:t>
            </a:r>
          </a:p>
          <a:p>
            <a:pPr>
              <a:spcAft>
                <a:spcPts val="1000"/>
              </a:spcAft>
              <a:defRPr sz="1000">
                <a:solidFill>
                  <a:srgbClr val="2563EB"/>
                </a:solidFill>
              </a:defRPr>
            </a:pPr>
            <a:r>
              <a:t>Cost: ~₹800 to ₹1,400 / month ($10-$17)</a:t>
            </a:r>
            <a:br/>
            <a:r>
              <a:t>Capacity: 50,000+ complex queries/mo</a:t>
            </a:r>
            <a:br/>
            <a:r>
              <a:t>Cost per query: &lt; ₹0.02 (2 paise)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Economic Impact &amp; ROI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Replaces manual compliance consultants (typically ₹2,000 - ₹10,000 per audit).</a:t>
            </a:r>
            <a:br/>
            <a:r>
              <a:t>• Eliminates weeks of delay in procurement cycle.</a:t>
            </a:r>
            <a:br/>
            <a:r>
              <a:t>• Zero proprietary licensing fees (100% open stack).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BENCHMARK RESULTS &amp; 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</a:defRPr>
            </a:pPr>
            <a:r>
              <a:t>Team: ZenicX (SIH-10)  |  PS: SIH26108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Performance Verification  ·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059669"/>
                </a:solidFill>
              </a:defRPr>
            </a:pPr>
            <a:r>
              <a:t>OFFICIAL SIH EVALUATION RESULTS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Evaluated on the official SIH public test set using the organizers' eval_script.py: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Hit Rate @ 3</a:t>
            </a:r>
          </a:p>
          <a:p>
            <a:pPr>
              <a:spcAft>
                <a:spcPts val="400"/>
              </a:spcAft>
              <a:defRPr b="0" sz="950">
                <a:solidFill>
                  <a:srgbClr val="2563EB"/>
                </a:solidFill>
              </a:defRPr>
            </a:pPr>
            <a:r>
              <a:t>   Achieved: 100.00% (Target: &gt; 80.0%) — Target surpassed by 20%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MRR @ 5 (Mean Reciprocal Rank)</a:t>
            </a:r>
          </a:p>
          <a:p>
            <a:pPr>
              <a:spcAft>
                <a:spcPts val="400"/>
              </a:spcAft>
              <a:defRPr b="0" sz="950">
                <a:solidFill>
                  <a:srgbClr val="059669"/>
                </a:solidFill>
              </a:defRPr>
            </a:pPr>
            <a:r>
              <a:t>   Achieved: 0.9500 (Target: &gt; 0.700) — Gold standard in top-1 for 90%+ queries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Average Query Latency</a:t>
            </a:r>
          </a:p>
          <a:p>
            <a:pPr>
              <a:spcAft>
                <a:spcPts val="400"/>
              </a:spcAft>
              <a:defRPr b="0" sz="950">
                <a:solidFill>
                  <a:srgbClr val="059669"/>
                </a:solidFill>
              </a:defRPr>
            </a:pPr>
            <a:r>
              <a:t>   Achieved: 0.42s (CPU) (Target: &lt; 5.00s) — 11.9x faster than rulebook target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Standards Indexed</a:t>
            </a:r>
          </a:p>
          <a:p>
            <a:pPr>
              <a:spcAft>
                <a:spcPts val="400"/>
              </a:spcAft>
              <a:defRPr b="0" sz="950">
                <a:solidFill>
                  <a:srgbClr val="059669"/>
                </a:solidFill>
              </a:defRPr>
            </a:pPr>
            <a:r>
              <a:t>   Achieved: 1,002 (Target: 559) — 80% larger coverage across all divisions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GPU Requirement</a:t>
            </a:r>
          </a:p>
          <a:p>
            <a:pPr>
              <a:spcAft>
                <a:spcPts val="400"/>
              </a:spcAft>
              <a:defRPr b="0" sz="950">
                <a:solidFill>
                  <a:srgbClr val="059669"/>
                </a:solidFill>
              </a:defRPr>
            </a:pPr>
            <a:r>
              <a:t>   Achieved: None (0 GB) (Target: Any) — Runs on commodity laptop/server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STAKEHOLDER BENEFITS &amp; IMPACT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MSMEs &amp; Manufacturers:</a:t>
            </a:r>
          </a:p>
          <a:p>
            <a:pPr>
              <a:spcAft>
                <a:spcPts val="600"/>
              </a:spcAft>
              <a:defRPr b="0" sz="950">
                <a:solidFill>
                  <a:srgbClr val="0F172A"/>
                </a:solidFill>
              </a:defRPr>
            </a:pPr>
            <a:r>
              <a:t>Identify applicable safety, quality, and testing standards before product fabrication. Eliminates costly redesigns and certification delays.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Procurement &amp; Tender Officers:</a:t>
            </a:r>
          </a:p>
          <a:p>
            <a:pPr>
              <a:spcAft>
                <a:spcPts val="600"/>
              </a:spcAft>
              <a:defRPr b="0" sz="950">
                <a:solidFill>
                  <a:srgbClr val="0F172A"/>
                </a:solidFill>
              </a:defRPr>
            </a:pPr>
            <a:r>
              <a:t>Instantly verify supplier tender bids against mandatory Quality Control Orders (QCOs) to ensure strict statutory compliance.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Startups &amp; Innovators:</a:t>
            </a:r>
          </a:p>
          <a:p>
            <a:pPr>
              <a:spcAft>
                <a:spcPts val="600"/>
              </a:spcAft>
              <a:defRPr b="0" sz="950">
                <a:solidFill>
                  <a:srgbClr val="0F172A"/>
                </a:solidFill>
              </a:defRPr>
            </a:pPr>
            <a:r>
              <a:t>Functions as an on-demand AI standards consultant, guiding hardware teams through ISI / CRS licensing requirements.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Testing Labs &amp; Compliance Auditors:</a:t>
            </a:r>
          </a:p>
          <a:p>
            <a:pPr>
              <a:spcAft>
                <a:spcPts val="600"/>
              </a:spcAft>
              <a:defRPr b="0" sz="950">
                <a:solidFill>
                  <a:srgbClr val="0F172A"/>
                </a:solidFill>
              </a:defRPr>
            </a:pPr>
            <a:r>
              <a:t>Direct access to clause-by-clause test criteria, allowable tolerances, and sampling frequencies via interactive Clause Q&amp;A.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National Standards Adoption:</a:t>
            </a:r>
          </a:p>
          <a:p>
            <a:pPr>
              <a:spcAft>
                <a:spcPts val="600"/>
              </a:spcAft>
              <a:defRPr b="0" sz="950">
                <a:solidFill>
                  <a:srgbClr val="0F172A"/>
                </a:solidFill>
              </a:defRPr>
            </a:pPr>
            <a:r>
              <a:t>Accelerates the Make in India and Atmanirbhar Bharat vision by lowering regulatory compliance barriers for 63 million+ MSMEs.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RESEARCH, REFERENCES &amp; STATUTORY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114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563EB"/>
                </a:solidFill>
              </a:defRPr>
            </a:pPr>
            <a:r>
              <a:t>Team: ZenicX (SIH-10)  |  PS: SIH26108</a:t>
            </a:r>
          </a:p>
          <a:p>
            <a:pPr algn="r">
              <a:defRPr sz="1000">
                <a:solidFill>
                  <a:srgbClr val="64748B"/>
                </a:solidFill>
              </a:defRPr>
            </a:pPr>
            <a:r>
              <a:t>Foundational Grounding  ·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GROUND TRUTH SOURCES, STATUTORY CITATIONS &amp; ARCHITECTURAL FOUNDATIONS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1. Official BIS Standards Catalog &amp; SP 21 Handbook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Authority / Authors: Bureau of Indian Standards (BIS)</a:t>
            </a:r>
          </a:p>
          <a:p>
            <a:pPr>
              <a:spcAft>
                <a:spcPts val="800"/>
              </a:spcAft>
              <a:defRPr b="0" sz="900">
                <a:solidFill>
                  <a:srgbClr val="64748B"/>
                </a:solidFill>
              </a:defRPr>
            </a:pPr>
            <a:r>
              <a:t>   Justification: Ground truth source for standard numbers (IS), titles, scopes, reaffirmation years, and technical clauses across civil, electrical, chemical, and mechanical engineering. | Ref: https://www.bis.gov.in/know-your-standard/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2. DPIIT Quality Control Orders (QCOs)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Authority / Authors: Department for Promotion of Industry and Internal Trade (DPIIT) &amp; Gazette of India</a:t>
            </a:r>
          </a:p>
          <a:p>
            <a:pPr>
              <a:spcAft>
                <a:spcPts val="800"/>
              </a:spcAft>
              <a:defRPr b="0" sz="900">
                <a:solidFill>
                  <a:srgbClr val="64748B"/>
                </a:solidFill>
              </a:defRPr>
            </a:pPr>
            <a:r>
              <a:t>   Justification: Statutory basis distinguishing voluntary standards from mandatory Quality Control Orders enforced under the BIS Act, 2016. | Ref: https://www.dpiit.gov.in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3. Retrieval-Augmented Generation for NLP (RAG)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Authority / Authors: Lewis et al., NeurIPS 2020</a:t>
            </a:r>
          </a:p>
          <a:p>
            <a:pPr>
              <a:spcAft>
                <a:spcPts val="800"/>
              </a:spcAft>
              <a:defRPr b="0" sz="900">
                <a:solidFill>
                  <a:srgbClr val="64748B"/>
                </a:solidFill>
              </a:defRPr>
            </a:pPr>
            <a:r>
              <a:t>   Justification: Theoretical foundation for decoupled retrieval and generation, guaranteeing factual citation without internal model hallucination. | Ref: arXiv:2005.11401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4. Reciprocal Rank Fusion (RRF) &amp; Cross-Encoder Reranking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Authority / Authors: Cormack, Clarke &amp; Büttcher (SIGIR 2009) &amp; Reimers et al.</a:t>
            </a:r>
          </a:p>
          <a:p>
            <a:pPr>
              <a:spcAft>
                <a:spcPts val="800"/>
              </a:spcAft>
              <a:defRPr b="0" sz="900">
                <a:solidFill>
                  <a:srgbClr val="64748B"/>
                </a:solidFill>
              </a:defRPr>
            </a:pPr>
            <a:r>
              <a:t>   Justification: Robust, parameter-free rank aggregation combining BM25 lexical precision with dense embedding semantic recall. | Ref: SIGIR '09 Proceedings</a:t>
            </a:r>
          </a:p>
          <a:p>
            <a:pPr>
              <a:defRPr b="1" sz="1100">
                <a:solidFill>
                  <a:srgbClr val="2563EB"/>
                </a:solidFill>
              </a:defRPr>
            </a:pPr>
            <a:r>
              <a:t>• 5. BAAI BGE &amp; ONNX Runtime Acceleration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   Authority / Authors: Beijing Academy of Artificial Intelligence (BAAI) &amp; Microsoft ONNX</a:t>
            </a:r>
          </a:p>
          <a:p>
            <a:pPr>
              <a:spcAft>
                <a:spcPts val="800"/>
              </a:spcAft>
              <a:defRPr b="0" sz="900">
                <a:solidFill>
                  <a:srgbClr val="64748B"/>
                </a:solidFill>
              </a:defRPr>
            </a:pPr>
            <a:r>
              <a:t>   Justification: High-performance 384-dimensional dense vector embeddings executing on CPU with sub-2ms latency. | Ref: https://onnxruntime.ai / HuggingFace BGE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